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8" d="100"/>
          <a:sy n="78" d="100"/>
        </p:scale>
        <p:origin x="-396" y="-3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B1C82E-9EA0-4A57-AB8A-CDC0BBDF05FD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64DFDB-7711-4912-B4F0-CCCDE6FB28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6498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6.png"/><Relationship Id="rId5" Type="http://schemas.openxmlformats.org/officeDocument/2006/relationships/image" Target="../media/image4.png"/><Relationship Id="rId10" Type="http://schemas.openxmlformats.org/officeDocument/2006/relationships/image" Target="../media/image11.png"/><Relationship Id="rId4" Type="http://schemas.openxmlformats.org/officeDocument/2006/relationships/image" Target="../media/image3.png"/><Relationship Id="rId9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4206240"/>
            <a:ext cx="4754880" cy="4754880"/>
          </a:xfrm>
          <a:prstGeom prst="ellipse">
            <a:avLst/>
          </a:prstGeom>
          <a:solidFill>
            <a:srgbClr val="1F3A5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5029200"/>
            <a:ext cx="3108960" cy="3108960"/>
          </a:xfrm>
          <a:prstGeom prst="ellipse">
            <a:avLst/>
          </a:prstGeom>
          <a:solidFill>
            <a:srgbClr val="4E8FA8">
              <a:alpha val="2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-1463040"/>
            <a:ext cx="3291840" cy="3291840"/>
          </a:xfrm>
          <a:prstGeom prst="ellipse">
            <a:avLst/>
          </a:prstGeom>
          <a:solidFill>
            <a:srgbClr val="E8845F">
              <a:alpha val="16000"/>
            </a:srgbClr>
          </a:solidFill>
          <a:ln/>
        </p:spPr>
      </p:sp>
      <p:pic>
        <p:nvPicPr>
          <p:cNvPr id="5" name="Image 0" descr="/home/claude/icons/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685800"/>
            <a:ext cx="777240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94360" y="19659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E8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FRONTIERS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31720"/>
            <a:ext cx="9144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R.E.A.C.T.</a:t>
            </a:r>
            <a:endParaRPr lang="en-US" sz="68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370332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CBDD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Resilient Engine for Adaptive Cargo &amp; Transport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594360" y="422452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9FB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AI-powered supply-chain disruption assistant and fleet-utilisation optimizer for India cargo operations</a:t>
            </a:r>
            <a:endParaRPr lang="en-US" sz="1350" dirty="0"/>
          </a:p>
        </p:txBody>
      </p:sp>
      <p:sp>
        <p:nvSpPr>
          <p:cNvPr id="10" name="Text 7"/>
          <p:cNvSpPr txBox="1"/>
          <p:nvPr/>
        </p:nvSpPr>
        <p:spPr>
          <a:xfrm>
            <a:off x="59436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0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Disruption Assistant &amp; Fleet Utilisation Optimizer  —  Team Submission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9445752" y="61722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089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September 2026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Disruption Hits, Chaos Cascades</a:t>
            </a:r>
            <a:endParaRPr lang="en-US" sz="29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1732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canal blockage, a dock strike, a storm off the coast — and suddenly hundreds of active shipments are affected in ways no ops team can track by hand. While that happens, fleet assets sit idle on quiet lanes and temperature-sensitive cargo drifts out of range with nobody watching.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11064240" cy="1261872"/>
          </a:xfrm>
          <a:prstGeom prst="roundRect">
            <a:avLst>
              <a:gd name="adj" fmla="val 7246"/>
            </a:avLst>
          </a:prstGeom>
          <a:solidFill>
            <a:srgbClr val="FBEAE1"/>
          </a:solidFill>
          <a:ln/>
        </p:spPr>
      </p:sp>
      <p:pic>
        <p:nvPicPr>
          <p:cNvPr id="6" name="Image 0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2619756"/>
            <a:ext cx="685800" cy="6858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828800" y="2478024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Cascading Disruptions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828800" y="2816352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events, port strikes, and geopolitical crises ripple across a fleet faster than any spreadsheet can follow — leaving no clear view of who is actually affected.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758184"/>
            <a:ext cx="11064240" cy="1261872"/>
          </a:xfrm>
          <a:prstGeom prst="roundRect">
            <a:avLst>
              <a:gd name="adj" fmla="val 7246"/>
            </a:avLst>
          </a:prstGeom>
          <a:solidFill>
            <a:srgbClr val="E3EFF3"/>
          </a:solidFill>
          <a:ln/>
        </p:spPr>
      </p:sp>
      <p:pic>
        <p:nvPicPr>
          <p:cNvPr id="10" name="Image 1" descr="/home/claude/icons/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46220"/>
            <a:ext cx="685800" cy="6858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828800" y="3904488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Idle &amp; Overloaded Fleet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1828800" y="4242816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Trucks, containers, and vessels sit empty on quiet lanes while other routes buckle under pressure, with no live signal telling dispatch where to redeploy.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48640" y="5184648"/>
            <a:ext cx="11064240" cy="1261872"/>
          </a:xfrm>
          <a:prstGeom prst="roundRect">
            <a:avLst>
              <a:gd name="adj" fmla="val 7246"/>
            </a:avLst>
          </a:prstGeom>
          <a:solidFill>
            <a:srgbClr val="E7F0F9"/>
          </a:solidFill>
          <a:ln/>
        </p:spPr>
      </p:sp>
      <p:pic>
        <p:nvPicPr>
          <p:cNvPr id="14" name="Image 2" descr="/home/claude/icons/snowfl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472684"/>
            <a:ext cx="685800" cy="685800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828800" y="533095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Cold-Chain Blind Spots</a:t>
            </a:r>
            <a:endParaRPr lang="en-US" sz="1600" dirty="0"/>
          </a:p>
        </p:txBody>
      </p:sp>
      <p:sp>
        <p:nvSpPr>
          <p:cNvPr id="16" name="Text 11"/>
          <p:cNvSpPr txBox="1"/>
          <p:nvPr/>
        </p:nvSpPr>
        <p:spPr>
          <a:xfrm>
            <a:off x="1828800" y="5669280"/>
            <a:ext cx="9418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temperature excursion can spoil $500K+ of vaccines or perishables — and today it is usually discovered only at delivery, when it is already too late.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R.E.A.C.T. — FRONTIERS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Command Bridge for Global Cargo Ops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75488" y="1618488"/>
            <a:ext cx="6638544" cy="3796407"/>
          </a:xfrm>
          <a:prstGeom prst="roundRect">
            <a:avLst>
              <a:gd name="adj" fmla="val 2168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27000" dist="38100" dir="5400000" algn="bl" rotWithShape="0">
              <a:srgbClr val="1F3A5F">
                <a:alpha val="22000"/>
              </a:srgbClr>
            </a:outerShdw>
          </a:effectLst>
        </p:spPr>
      </p:sp>
      <p:pic>
        <p:nvPicPr>
          <p:cNvPr id="5" name="Image 0" descr="/home/claude/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691640"/>
            <a:ext cx="6492240" cy="365010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524623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Operations Dashboard — JNPT · Chennai · Cochin · Mundra · Kolkata</a:t>
            </a:r>
            <a:endParaRPr lang="en-US" sz="1050" dirty="0"/>
          </a:p>
        </p:txBody>
      </p:sp>
      <p:pic>
        <p:nvPicPr>
          <p:cNvPr id="7" name="Image 1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965960"/>
            <a:ext cx="548640" cy="54864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183880" y="1911096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exactly which shipments are affected the instant a disruption strikes</a:t>
            </a:r>
            <a:endParaRPr lang="en-US" sz="1350" dirty="0"/>
          </a:p>
        </p:txBody>
      </p:sp>
      <p:pic>
        <p:nvPicPr>
          <p:cNvPr id="9" name="Image 2" descr="/home/claude/icons/rou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0" y="3291840"/>
            <a:ext cx="548640" cy="54864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183880" y="3236976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Recommends re-routing and alternative-carrier options in seconds, not hours</a:t>
            </a:r>
            <a:endParaRPr lang="en-US" sz="1350" dirty="0"/>
          </a:p>
        </p:txBody>
      </p:sp>
      <p:pic>
        <p:nvPicPr>
          <p:cNvPr id="11" name="Image 3" descr="/home/claude/icons/tru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0" y="4617720"/>
            <a:ext cx="548640" cy="5486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183880" y="4562856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Surfaces idle fleet assets so dispatch can redeploy them immediately</a:t>
            </a:r>
            <a:endParaRPr lang="en-US" sz="1350" dirty="0"/>
          </a:p>
        </p:txBody>
      </p:sp>
      <p:pic>
        <p:nvPicPr>
          <p:cNvPr id="13" name="Image 4" descr="/home/claude/icons/therm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5943600"/>
            <a:ext cx="548640" cy="54864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183880" y="5888736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cold-chain excursions in transit — before spoiled cargo ever reaches the dock</a:t>
            </a:r>
            <a:endParaRPr lang="en-US" sz="1350" dirty="0"/>
          </a:p>
        </p:txBody>
      </p:sp>
      <p:sp>
        <p:nvSpPr>
          <p:cNvPr id="15" name="Text 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R.E.A.C.T. — FRONTIERS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Layers, One Decision Loop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246120" cy="4709160"/>
          </a:xfrm>
          <a:prstGeom prst="roundRect">
            <a:avLst>
              <a:gd name="adj" fmla="val 2817"/>
            </a:avLst>
          </a:prstGeom>
          <a:solidFill>
            <a:srgbClr val="E3EFF3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7373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INPUTS</a:t>
            </a:r>
            <a:endParaRPr lang="en-US" sz="1200" dirty="0"/>
          </a:p>
        </p:txBody>
      </p:sp>
      <p:pic>
        <p:nvPicPr>
          <p:cNvPr id="6" name="Image 0" descr="/home/claude/icons/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240280"/>
            <a:ext cx="502920" cy="50292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2212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Disruption feeds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444752" y="2487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weather, strikes, geopolitics</a:t>
            </a:r>
            <a:endParaRPr lang="en-US" sz="1050" dirty="0"/>
          </a:p>
        </p:txBody>
      </p:sp>
      <p:pic>
        <p:nvPicPr>
          <p:cNvPr id="9" name="Image 1" descr="/home/claude/icons/tru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3474720"/>
            <a:ext cx="502920" cy="5029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44752" y="3447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Fleet telemetry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1444752" y="37216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position &amp; idle status</a:t>
            </a:r>
            <a:endParaRPr lang="en-US" sz="1050" dirty="0"/>
          </a:p>
        </p:txBody>
      </p:sp>
      <p:pic>
        <p:nvPicPr>
          <p:cNvPr id="12" name="Image 2" descr="/home/claude/icons/snowflak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72" y="470916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44752" y="4681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Cold-chain IoT</a:t>
            </a:r>
            <a:endParaRPr lang="en-US" sz="1300" dirty="0"/>
          </a:p>
        </p:txBody>
      </p:sp>
      <p:sp>
        <p:nvSpPr>
          <p:cNvPr id="14" name="Text 9"/>
          <p:cNvSpPr txBox="1"/>
          <p:nvPr/>
        </p:nvSpPr>
        <p:spPr>
          <a:xfrm>
            <a:off x="1444752" y="4956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temperature logs</a:t>
            </a:r>
            <a:endParaRPr lang="en-US" sz="1050" dirty="0"/>
          </a:p>
        </p:txBody>
      </p:sp>
      <p:sp>
        <p:nvSpPr>
          <p:cNvPr id="15" name="Shape 10"/>
          <p:cNvSpPr/>
          <p:nvPr/>
        </p:nvSpPr>
        <p:spPr>
          <a:xfrm>
            <a:off x="3849624" y="3707892"/>
            <a:ext cx="384048" cy="402336"/>
          </a:xfrm>
          <a:prstGeom prst="chevron">
            <a:avLst/>
          </a:prstGeom>
          <a:solidFill>
            <a:srgbClr val="4E8FA8"/>
          </a:solidFill>
          <a:ln/>
        </p:spPr>
      </p:sp>
      <p:sp>
        <p:nvSpPr>
          <p:cNvPr id="16" name="Shape 11"/>
          <p:cNvSpPr/>
          <p:nvPr/>
        </p:nvSpPr>
        <p:spPr>
          <a:xfrm>
            <a:off x="4297680" y="1554480"/>
            <a:ext cx="3246120" cy="4709160"/>
          </a:xfrm>
          <a:prstGeom prst="roundRect">
            <a:avLst>
              <a:gd name="adj" fmla="val 2817"/>
            </a:avLst>
          </a:prstGeom>
          <a:solidFill>
            <a:srgbClr val="FBEAE1"/>
          </a:solidFill>
          <a:ln/>
        </p:spPr>
      </p:sp>
      <p:sp>
        <p:nvSpPr>
          <p:cNvPr id="17" name="Text 12"/>
          <p:cNvSpPr txBox="1"/>
          <p:nvPr/>
        </p:nvSpPr>
        <p:spPr>
          <a:xfrm>
            <a:off x="4526280" y="17373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ENGINE</a:t>
            </a:r>
            <a:endParaRPr lang="en-US" sz="1200" dirty="0"/>
          </a:p>
        </p:txBody>
      </p:sp>
      <p:pic>
        <p:nvPicPr>
          <p:cNvPr id="18" name="Image 3" descr="/home/claude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53712" y="224028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93792" y="2212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Disruption matcher</a:t>
            </a:r>
            <a:endParaRPr lang="en-US" sz="1300" dirty="0"/>
          </a:p>
        </p:txBody>
      </p:sp>
      <p:sp>
        <p:nvSpPr>
          <p:cNvPr id="20" name="Text 14"/>
          <p:cNvSpPr txBox="1"/>
          <p:nvPr/>
        </p:nvSpPr>
        <p:spPr>
          <a:xfrm>
            <a:off x="5193792" y="2487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is affected, how badly</a:t>
            </a:r>
            <a:endParaRPr lang="en-US" sz="1050" dirty="0"/>
          </a:p>
        </p:txBody>
      </p:sp>
      <p:pic>
        <p:nvPicPr>
          <p:cNvPr id="21" name="Image 4" descr="/home/claude/icons/rou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53712" y="3474720"/>
            <a:ext cx="502920" cy="50292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193792" y="3447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Route &amp; fleet optimizer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5193792" y="37216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alternative + idle assets</a:t>
            </a:r>
            <a:endParaRPr lang="en-US" sz="1050" dirty="0"/>
          </a:p>
        </p:txBody>
      </p:sp>
      <p:pic>
        <p:nvPicPr>
          <p:cNvPr id="24" name="Image 5" descr="/home/claude/icons/thermo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53712" y="4709160"/>
            <a:ext cx="502920" cy="502920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5193792" y="4681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Excursion classifier</a:t>
            </a:r>
            <a:endParaRPr lang="en-US" sz="1300" dirty="0"/>
          </a:p>
        </p:txBody>
      </p:sp>
      <p:sp>
        <p:nvSpPr>
          <p:cNvPr id="26" name="Text 18"/>
          <p:cNvSpPr txBox="1"/>
          <p:nvPr/>
        </p:nvSpPr>
        <p:spPr>
          <a:xfrm>
            <a:off x="5193792" y="4956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scoring, pre-delivery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7598664" y="3707892"/>
            <a:ext cx="384048" cy="402336"/>
          </a:xfrm>
          <a:prstGeom prst="chevron">
            <a:avLst/>
          </a:prstGeom>
          <a:solidFill>
            <a:srgbClr val="E8845F"/>
          </a:solidFill>
          <a:ln/>
        </p:spPr>
      </p:sp>
      <p:sp>
        <p:nvSpPr>
          <p:cNvPr id="28" name="Shape 20"/>
          <p:cNvSpPr/>
          <p:nvPr/>
        </p:nvSpPr>
        <p:spPr>
          <a:xfrm>
            <a:off x="8046720" y="1554480"/>
            <a:ext cx="3246120" cy="4709160"/>
          </a:xfrm>
          <a:prstGeom prst="roundRect">
            <a:avLst>
              <a:gd name="adj" fmla="val 2817"/>
            </a:avLst>
          </a:prstGeom>
          <a:solidFill>
            <a:srgbClr val="E1F1EA"/>
          </a:solidFill>
          <a:ln/>
        </p:spPr>
      </p:sp>
      <p:sp>
        <p:nvSpPr>
          <p:cNvPr id="29" name="Text 21"/>
          <p:cNvSpPr txBox="1"/>
          <p:nvPr/>
        </p:nvSpPr>
        <p:spPr>
          <a:xfrm>
            <a:off x="8275320" y="1737360"/>
            <a:ext cx="2788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2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BRIDGE</a:t>
            </a:r>
            <a:endParaRPr lang="en-US" sz="1200" dirty="0"/>
          </a:p>
        </p:txBody>
      </p:sp>
      <p:pic>
        <p:nvPicPr>
          <p:cNvPr id="30" name="Image 6" descr="/home/claude/icons/map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02752" y="2240280"/>
            <a:ext cx="502920" cy="502920"/>
          </a:xfrm>
          <a:prstGeom prst="rect">
            <a:avLst/>
          </a:prstGeom>
        </p:spPr>
      </p:pic>
      <p:sp>
        <p:nvSpPr>
          <p:cNvPr id="31" name="Text 22"/>
          <p:cNvSpPr txBox="1"/>
          <p:nvPr/>
        </p:nvSpPr>
        <p:spPr>
          <a:xfrm>
            <a:off x="8942832" y="221284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&amp; map</a:t>
            </a:r>
            <a:endParaRPr lang="en-US" sz="1300" dirty="0"/>
          </a:p>
        </p:txBody>
      </p:sp>
      <p:sp>
        <p:nvSpPr>
          <p:cNvPr id="32" name="Text 23"/>
          <p:cNvSpPr txBox="1"/>
          <p:nvPr/>
        </p:nvSpPr>
        <p:spPr>
          <a:xfrm>
            <a:off x="8942832" y="248716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+ routes, one screen</a:t>
            </a:r>
            <a:endParaRPr lang="en-US" sz="1050" dirty="0"/>
          </a:p>
        </p:txBody>
      </p:sp>
      <p:pic>
        <p:nvPicPr>
          <p:cNvPr id="33" name="Image 7" descr="/home/claude/icons/cha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02752" y="3474720"/>
            <a:ext cx="502920" cy="502920"/>
          </a:xfrm>
          <a:prstGeom prst="rect">
            <a:avLst/>
          </a:prstGeom>
        </p:spPr>
      </p:pic>
      <p:sp>
        <p:nvSpPr>
          <p:cNvPr id="34" name="Text 24"/>
          <p:cNvSpPr txBox="1"/>
          <p:nvPr/>
        </p:nvSpPr>
        <p:spPr>
          <a:xfrm>
            <a:off x="8942832" y="34472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Guardian AI assistant</a:t>
            </a:r>
            <a:endParaRPr lang="en-US" sz="1300" dirty="0"/>
          </a:p>
        </p:txBody>
      </p:sp>
      <p:sp>
        <p:nvSpPr>
          <p:cNvPr id="35" name="Text 25"/>
          <p:cNvSpPr txBox="1"/>
          <p:nvPr/>
        </p:nvSpPr>
        <p:spPr>
          <a:xfrm>
            <a:off x="8942832" y="372160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Q&amp;A</a:t>
            </a:r>
            <a:endParaRPr lang="en-US" sz="1050" dirty="0"/>
          </a:p>
        </p:txBody>
      </p:sp>
      <p:pic>
        <p:nvPicPr>
          <p:cNvPr id="36" name="Image 8" descr="/home/claude/icons/che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02752" y="4709160"/>
            <a:ext cx="502920" cy="502920"/>
          </a:xfrm>
          <a:prstGeom prst="rect">
            <a:avLst/>
          </a:prstGeom>
        </p:spPr>
      </p:pic>
      <p:sp>
        <p:nvSpPr>
          <p:cNvPr id="37" name="Text 26"/>
          <p:cNvSpPr txBox="1"/>
          <p:nvPr/>
        </p:nvSpPr>
        <p:spPr>
          <a:xfrm>
            <a:off x="8942832" y="468172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Real-time alerts</a:t>
            </a:r>
            <a:endParaRPr lang="en-US" sz="1300" dirty="0"/>
          </a:p>
        </p:txBody>
      </p:sp>
      <p:sp>
        <p:nvSpPr>
          <p:cNvPr id="38" name="Text 27"/>
          <p:cNvSpPr txBox="1"/>
          <p:nvPr/>
        </p:nvSpPr>
        <p:spPr>
          <a:xfrm>
            <a:off x="8942832" y="4956048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severity-ranked action list</a:t>
            </a:r>
            <a:endParaRPr lang="en-US" sz="1050" dirty="0"/>
          </a:p>
        </p:txBody>
      </p:sp>
      <p:sp>
        <p:nvSpPr>
          <p:cNvPr id="39" name="Text 2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0" name="Text 29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R.E.A.C.T. — FRONTIERS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ACTION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Guardian AI — Ask, Don’t Search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007608" y="1892808"/>
            <a:ext cx="5724144" cy="3282308"/>
          </a:xfrm>
          <a:prstGeom prst="roundRect">
            <a:avLst>
              <a:gd name="adj" fmla="val 2507"/>
            </a:avLst>
          </a:prstGeom>
          <a:solidFill>
            <a:srgbClr val="FFFFFF"/>
          </a:solidFill>
          <a:ln w="12700">
            <a:solidFill>
              <a:srgbClr val="D9E3EC"/>
            </a:solidFill>
            <a:prstDash val="solid"/>
          </a:ln>
          <a:effectLst>
            <a:outerShdw blurRad="127000" dist="38100" dir="5400000" algn="bl" rotWithShape="0">
              <a:srgbClr val="1F3A5F">
                <a:alpha val="22000"/>
              </a:srgbClr>
            </a:outerShdw>
          </a:effectLst>
        </p:spPr>
      </p:sp>
      <p:pic>
        <p:nvPicPr>
          <p:cNvPr id="5" name="Image 0" descr="/home/claude/img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965960"/>
            <a:ext cx="5577840" cy="313600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080760" y="528484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Monitor + Guardian AI chat, live in the Ops Bridge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548640" y="169164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FBEAE1"/>
          </a:solidFill>
          <a:ln/>
        </p:spPr>
      </p:sp>
      <p:pic>
        <p:nvPicPr>
          <p:cNvPr id="8" name="Image 1" descr="/home/claude/icons/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1984248"/>
            <a:ext cx="594360" cy="59436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600200" y="20574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in plain English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822960" y="269748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"alternative routes?" and Guardian AI instantly returns Cape of Good Hope (+7-10 days, fully open), Trans-Siberian rail (+14 days, land only), Dubai-hub air freight for perishables, and certified hazmat vessels for dangerous cargo.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4251960"/>
            <a:ext cx="5257800" cy="2240280"/>
          </a:xfrm>
          <a:prstGeom prst="roundRect">
            <a:avLst>
              <a:gd name="adj" fmla="val 4082"/>
            </a:avLst>
          </a:prstGeom>
          <a:solidFill>
            <a:srgbClr val="E3EFF3"/>
          </a:solidFill>
          <a:ln/>
        </p:spPr>
      </p:sp>
      <p:pic>
        <p:nvPicPr>
          <p:cNvPr id="12" name="Image 2" descr="/home/claude/icons/therm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544568"/>
            <a:ext cx="594360" cy="59436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600200" y="461772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Catch excursions before delivery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822960" y="5257800"/>
            <a:ext cx="4709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1F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Vaccine shipment SHP-101 drifted 5.2°C → 9.8°C → 14.5°C across three sensor reads. The system flags it Critical while it is still in transit — not after it has already arrived spoiled.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6" name="Text 11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R.E.A.C.T. — FRONTIERS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E7F0F9"/>
          </a:solidFill>
          <a:ln/>
        </p:spPr>
      </p:sp>
      <p:pic>
        <p:nvPicPr>
          <p:cNvPr id="5" name="Image 0" descr="/home/claude/icons/desk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74520"/>
            <a:ext cx="640080" cy="640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90195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Operations Bridge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5603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responsive HTML/CSS/JS dashboard delivering live maps, fleet status, and cold-chain views in one console.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60020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FBEAE1"/>
          </a:solidFill>
          <a:ln/>
        </p:spPr>
      </p:sp>
      <p:pic>
        <p:nvPicPr>
          <p:cNvPr id="9" name="Image 1" descr="/home/claude/icons/robo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7960" y="1874520"/>
            <a:ext cx="640080" cy="6400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360920" y="190195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Guardian AI</a:t>
            </a:r>
            <a:endParaRPr lang="en-US" sz="1550" dirty="0"/>
          </a:p>
        </p:txBody>
      </p:sp>
      <p:sp>
        <p:nvSpPr>
          <p:cNvPr id="11" name="Text 7"/>
          <p:cNvSpPr txBox="1"/>
          <p:nvPr/>
        </p:nvSpPr>
        <p:spPr>
          <a:xfrm>
            <a:off x="6537960" y="256032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conversational reasoning layer that turns raw disruption data into instant route and fleet guidance.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48640" y="402336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E3EFF3"/>
          </a:solidFill>
          <a:ln/>
        </p:spPr>
      </p:sp>
      <p:pic>
        <p:nvPicPr>
          <p:cNvPr id="13" name="Image 2" descr="/home/claude/icons/databas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97680"/>
            <a:ext cx="640080" cy="6400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645920" y="43251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Unified Data Layer</a:t>
            </a:r>
            <a:endParaRPr lang="en-US" sz="1550" dirty="0"/>
          </a:p>
        </p:txBody>
      </p:sp>
      <p:sp>
        <p:nvSpPr>
          <p:cNvPr id="15" name="Text 10"/>
          <p:cNvSpPr txBox="1"/>
          <p:nvPr/>
        </p:nvSpPr>
        <p:spPr>
          <a:xfrm>
            <a:off x="822960" y="49834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Disruption feeds, GPS fleet telemetry, and cold-chain IoT sensor logs, normalised in real time.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263640" y="4023360"/>
            <a:ext cx="5440680" cy="2148840"/>
          </a:xfrm>
          <a:prstGeom prst="roundRect">
            <a:avLst>
              <a:gd name="adj" fmla="val 4255"/>
            </a:avLst>
          </a:prstGeom>
          <a:solidFill>
            <a:srgbClr val="E1F1EA"/>
          </a:solidFill>
          <a:ln/>
        </p:spPr>
      </p:sp>
      <p:pic>
        <p:nvPicPr>
          <p:cNvPr id="17" name="Image 3" descr="/home/claude/icons/clou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7960" y="4297680"/>
            <a:ext cx="640080" cy="64008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60920" y="4325112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Cloud-Ready Architecture</a:t>
            </a:r>
            <a:endParaRPr lang="en-US" sz="1550" dirty="0"/>
          </a:p>
        </p:txBody>
      </p:sp>
      <p:sp>
        <p:nvSpPr>
          <p:cNvPr id="19" name="Text 13"/>
          <p:cNvSpPr txBox="1"/>
          <p:nvPr/>
        </p:nvSpPr>
        <p:spPr>
          <a:xfrm>
            <a:off x="6537960" y="4983480"/>
            <a:ext cx="4892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deploy on enterprise cloud &amp; AI platforms — including IBM watsonx and IBM Cloud — as the engine scales.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1" name="Text 15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R.E.A.C.T. — FRONTIERS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Screen Replaces a Dozen Phone Calls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FBEAE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85623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E884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Affected Shipments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1729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rerouted around the Suez blockage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383280" y="1600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E3EFF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383280" y="185623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4E8F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5600" dirty="0"/>
          </a:p>
        </p:txBody>
      </p:sp>
      <p:sp>
        <p:nvSpPr>
          <p:cNvPr id="10" name="Text 8"/>
          <p:cNvSpPr txBox="1"/>
          <p:nvPr/>
        </p:nvSpPr>
        <p:spPr>
          <a:xfrm>
            <a:off x="3566160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Idle Fleet Assets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3566160" y="31729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surfaced and ready for redeployment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217920" y="1600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E7F0F9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17920" y="185623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6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Cold-Chain Alerts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0" y="31729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caught before delivery, not after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9052560" y="1600200"/>
            <a:ext cx="2606040" cy="2286000"/>
          </a:xfrm>
          <a:prstGeom prst="roundRect">
            <a:avLst>
              <a:gd name="adj" fmla="val 4000"/>
            </a:avLst>
          </a:prstGeom>
          <a:solidFill>
            <a:srgbClr val="E1F1E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052560" y="1856232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F7D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600" dirty="0"/>
          </a:p>
        </p:txBody>
      </p:sp>
      <p:sp>
        <p:nvSpPr>
          <p:cNvPr id="18" name="Text 16"/>
          <p:cNvSpPr txBox="1"/>
          <p:nvPr/>
        </p:nvSpPr>
        <p:spPr>
          <a:xfrm>
            <a:off x="9235440" y="283464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 Shipments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235440" y="317296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clear on unaffected routes</a:t>
            </a:r>
            <a:endParaRPr lang="en-US" sz="1050" dirty="0"/>
          </a:p>
        </p:txBody>
      </p:sp>
      <p:pic>
        <p:nvPicPr>
          <p:cNvPr id="20" name="Image 0" descr="/home/claude/icons/bo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297680"/>
            <a:ext cx="548640" cy="54864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1325880" y="427024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alarm to action in one view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1325880" y="455371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Suez Canal disruption is triaged from a HIGH-severity alert straight to a ranked rerouting priority list — no manual cross-checking required.</a:t>
            </a:r>
            <a:endParaRPr lang="en-US" sz="1150" dirty="0"/>
          </a:p>
        </p:txBody>
      </p:sp>
      <p:pic>
        <p:nvPicPr>
          <p:cNvPr id="23" name="Image 1" descr="/home/claude/icons/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5166360"/>
            <a:ext cx="548640" cy="548640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1325880" y="5138928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of research, seconds of chat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1325880" y="5422392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Alternative-route research that used to mean emails and phone calls now returns a ranked, cost-aware answer the moment it is asked.</a:t>
            </a:r>
            <a:endParaRPr lang="en-US" sz="1150" dirty="0"/>
          </a:p>
        </p:txBody>
      </p:sp>
      <p:sp>
        <p:nvSpPr>
          <p:cNvPr id="26" name="Text 22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27" name="Text 23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R.E.A.C.T. — FRONTIERS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E8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BUILDERS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04088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FRONTIERS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749552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101600" dist="25400" dir="5400000" algn="bl" rotWithShape="0">
              <a:srgbClr val="1F3A5F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92224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1F3A5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04672" y="1792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TM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22392" y="1773936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22392" y="17739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804672" y="2468880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Tirth Makavana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804672" y="2724912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DEVELOPER &amp; SYSTEMS ARCHITECT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1554480"/>
            <a:ext cx="5239512" cy="1749552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101600" dist="25400" dir="5400000" algn="bl" rotWithShape="0">
              <a:srgbClr val="1F3A5F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19672" y="1792224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E8845F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19672" y="17922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JK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11137392" y="1773936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1137392" y="1773936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2468880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Jaini Khandhar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19672" y="2724912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E884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DESIGNER &amp; FRONTEND LEAD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8640" y="4142232"/>
            <a:ext cx="5440680" cy="1551432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101600" dist="25400" dir="5400000" algn="bl" rotWithShape="0">
              <a:srgbClr val="1F3A5F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04672" y="437997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2F7D5E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04672" y="4379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5422392" y="43616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422392" y="43616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804672" y="5056632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Kunj Patel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804672" y="53126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2F7D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 ANALYST &amp; AI ENGINEER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263640" y="4142232"/>
            <a:ext cx="5102352" cy="1551432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E3E9F0"/>
            </a:solidFill>
            <a:prstDash val="solid"/>
          </a:ln>
          <a:effectLst>
            <a:outerShdw blurRad="101600" dist="25400" dir="5400000" algn="bl" rotWithShape="0">
              <a:srgbClr val="1F3A5F">
                <a:alpha val="12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6519672" y="4379976"/>
            <a:ext cx="566928" cy="566928"/>
          </a:xfrm>
          <a:prstGeom prst="roundRect">
            <a:avLst>
              <a:gd name="adj" fmla="val 14516"/>
            </a:avLst>
          </a:prstGeom>
          <a:solidFill>
            <a:srgbClr val="4E8FA8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519672" y="437997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11137392" y="4361688"/>
            <a:ext cx="365760" cy="256032"/>
          </a:xfrm>
          <a:prstGeom prst="roundRect">
            <a:avLst>
              <a:gd name="adj" fmla="val 21429"/>
            </a:avLst>
          </a:prstGeom>
          <a:solidFill>
            <a:srgbClr val="EEF2F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1137392" y="4361688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51" name="Text 49"/>
          <p:cNvSpPr txBox="1"/>
          <p:nvPr/>
        </p:nvSpPr>
        <p:spPr>
          <a:xfrm>
            <a:off x="6519672" y="5056632"/>
            <a:ext cx="4928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Mihir Rana</a:t>
            </a:r>
            <a:endParaRPr lang="en-US" sz="1500" dirty="0"/>
          </a:p>
        </p:txBody>
      </p:sp>
      <p:sp>
        <p:nvSpPr>
          <p:cNvPr id="52" name="Text 50"/>
          <p:cNvSpPr txBox="1"/>
          <p:nvPr/>
        </p:nvSpPr>
        <p:spPr>
          <a:xfrm>
            <a:off x="6519672" y="5312664"/>
            <a:ext cx="4928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4E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COLD-CHAIN &amp; IOT SPECIALIST</a:t>
            </a:r>
            <a:endParaRPr lang="en-US" sz="1000" dirty="0"/>
          </a:p>
        </p:txBody>
      </p:sp>
      <p:sp>
        <p:nvSpPr>
          <p:cNvPr id="60" name="Text 58"/>
          <p:cNvSpPr txBox="1"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61" name="Text 59"/>
          <p:cNvSpPr txBox="1"/>
          <p:nvPr/>
        </p:nvSpPr>
        <p:spPr>
          <a:xfrm>
            <a:off x="548640" y="6400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9B7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R.E.A.C.T. — FRONTIERS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720</Words>
  <Application>Microsoft Office PowerPoint</Application>
  <PresentationFormat>Custom</PresentationFormat>
  <Paragraphs>120</Paragraphs>
  <Slides>8</Slides>
  <Notes>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Diya Makwana</cp:lastModifiedBy>
  <cp:revision>2</cp:revision>
  <dcterms:created xsi:type="dcterms:W3CDTF">2026-09-14T21:52:52Z</dcterms:created>
  <dcterms:modified xsi:type="dcterms:W3CDTF">2026-09-15T08:58:45Z</dcterms:modified>
</cp:coreProperties>
</file>